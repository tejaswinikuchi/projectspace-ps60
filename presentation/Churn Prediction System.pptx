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562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-418" y="-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29"/>
          <p:cNvSpPr/>
          <p:nvPr/>
        </p:nvSpPr>
        <p:spPr>
          <a:xfrm>
            <a:off x="457200" y="746975"/>
            <a:ext cx="7772400" cy="689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 smtClean="0">
                <a:solidFill>
                  <a:srgbClr val="E3562B"/>
                </a:solidFill>
                <a:latin typeface="Times New Roman" pitchFamily="18" charset="0"/>
                <a:cs typeface="Times New Roman" pitchFamily="18" charset="0"/>
              </a:rPr>
              <a:t>Proactive Churn Prediction</a:t>
            </a:r>
            <a:endParaRPr lang="en-US" sz="4000" dirty="0">
              <a:solidFill>
                <a:srgbClr val="E3562B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7200" y="1294328"/>
            <a:ext cx="7772400" cy="618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356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&amp; Retention Platform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7200" y="2423159"/>
            <a:ext cx="7315200" cy="2618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Team Name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Churn Busters</a:t>
            </a:r>
          </a:p>
          <a:p>
            <a:pPr marL="0" indent="0" algn="l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Team Members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                       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L. Sarath Sai Kiran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K. Satish Reddy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T. Chandra Moulika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K. Tejaswini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M. Nithya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P. Keerthi Rani</a:t>
            </a:r>
          </a:p>
          <a:p>
            <a:pPr marL="0" indent="0" algn="ctr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39" y="0"/>
            <a:ext cx="3474720" cy="514350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731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28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356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PROBLEM</a:t>
            </a:r>
            <a:endParaRPr lang="en-US" sz="2800" dirty="0">
              <a:solidFill>
                <a:srgbClr val="E3562B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356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STATEMENT</a:t>
            </a:r>
            <a:endParaRPr lang="en-US" sz="2800" dirty="0">
              <a:solidFill>
                <a:srgbClr val="E3562B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920240"/>
            <a:ext cx="2926080" cy="82296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9202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4–6%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28600" y="23591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Monthly Churn Rate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28600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0C0C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"85% of customers have already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rgbClr val="B0C0C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decided before teams reach out."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749040" y="320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3639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Why Current Systems Fail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749040" y="868680"/>
            <a:ext cx="5120640" cy="868680"/>
          </a:xfrm>
          <a:prstGeom prst="rect">
            <a:avLst/>
          </a:prstGeom>
          <a:solidFill>
            <a:srgbClr val="F0EAD0"/>
          </a:solidFill>
          <a:ln w="12700">
            <a:solidFill>
              <a:srgbClr val="E0DA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868680"/>
            <a:ext cx="54864" cy="86868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61688" y="960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smtClean="0">
                <a:solidFill>
                  <a:srgbClr val="1D3639"/>
                </a:solidFill>
                <a:latin typeface="Times New Roman" pitchFamily="18" charset="0"/>
                <a:cs typeface="Times New Roman" pitchFamily="18" charset="0"/>
              </a:rPr>
              <a:t>No early Churn Detection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361688" y="12527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§"/>
            </a:pPr>
            <a:r>
              <a:rPr lang="en-US" sz="1100" dirty="0" smtClean="0">
                <a:solidFill>
                  <a:srgbClr val="7F7F7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7F7F7F"/>
                </a:solidFill>
                <a:latin typeface="Times New Roman" pitchFamily="18" charset="0"/>
                <a:cs typeface="Times New Roman" pitchFamily="18" charset="0"/>
              </a:rPr>
              <a:t>Misses critical warning signs before customers churn</a:t>
            </a:r>
            <a:r>
              <a:rPr lang="en-US" sz="1100" dirty="0" smtClean="0">
                <a:solidFill>
                  <a:srgbClr val="7F7F7F"/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49040" y="1847088"/>
            <a:ext cx="5120640" cy="868680"/>
          </a:xfrm>
          <a:prstGeom prst="rect">
            <a:avLst/>
          </a:prstGeom>
          <a:solidFill>
            <a:srgbClr val="F0EAD0"/>
          </a:solidFill>
          <a:ln w="12700">
            <a:solidFill>
              <a:srgbClr val="E0DAC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49040" y="1847088"/>
            <a:ext cx="54864" cy="86868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361688" y="19385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smtClean="0">
                <a:solidFill>
                  <a:srgbClr val="1D3639"/>
                </a:solidFill>
                <a:latin typeface="Times New Roman" pitchFamily="18" charset="0"/>
                <a:cs typeface="Times New Roman" pitchFamily="18" charset="0"/>
              </a:rPr>
              <a:t>Customer data is scattered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361688" y="223113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Arial" pitchFamily="34" charset="0"/>
              <a:buChar char="•"/>
            </a:pPr>
            <a:r>
              <a:rPr lang="en-US" sz="1100" dirty="0" smtClean="0"/>
              <a:t> 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Data silos prevent a complete view of customer view of 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customer behaviour</a:t>
            </a:r>
            <a:r>
              <a:rPr lang="en-US" sz="1100" dirty="0" smtClean="0"/>
              <a:t>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361688" y="320954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749040" y="2880360"/>
            <a:ext cx="5120640" cy="868680"/>
          </a:xfrm>
          <a:prstGeom prst="rect">
            <a:avLst/>
          </a:prstGeom>
          <a:solidFill>
            <a:srgbClr val="F0EAD0"/>
          </a:solidFill>
          <a:ln w="12700">
            <a:solidFill>
              <a:srgbClr val="E0DAC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749040" y="2880360"/>
            <a:ext cx="54864" cy="86868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308405" y="30723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Manual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retention process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4297294" y="3305749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§"/>
            </a:pP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Reactive and time consuming-hard to scale or personalize.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C:\Users\user\Downloads\WhatsApp Image 2026-05-10 at 2.42.02 PM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40512" y="1115826"/>
            <a:ext cx="429736" cy="429736"/>
          </a:xfrm>
          <a:prstGeom prst="rect">
            <a:avLst/>
          </a:prstGeom>
          <a:noFill/>
        </p:spPr>
      </p:pic>
      <p:pic>
        <p:nvPicPr>
          <p:cNvPr id="2052" name="Picture 4" descr="C:\Users\user\Downloads\WhatsApp Image 2026-05-10 at 2.49.31 PM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40512" y="2053971"/>
            <a:ext cx="429736" cy="431652"/>
          </a:xfrm>
          <a:prstGeom prst="rect">
            <a:avLst/>
          </a:prstGeom>
          <a:noFill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40513" y="3056575"/>
            <a:ext cx="429736" cy="457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 smtClean="0">
                <a:solidFill>
                  <a:srgbClr val="B0C0C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  </a:t>
            </a:r>
            <a:r>
              <a:rPr lang="en-US" sz="1400" kern="0" spc="200" dirty="0">
                <a:solidFill>
                  <a:srgbClr val="B0C0C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Solution Overview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356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How the Platform Works</a:t>
            </a:r>
            <a:endParaRPr lang="en-US" sz="2400" dirty="0">
              <a:solidFill>
                <a:srgbClr val="E3562B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9968" y="1325880"/>
            <a:ext cx="1554480" cy="3065816"/>
          </a:xfrm>
          <a:prstGeom prst="rect">
            <a:avLst/>
          </a:prstGeom>
          <a:solidFill>
            <a:srgbClr val="D8D2BC"/>
          </a:solidFill>
          <a:ln w="12700">
            <a:solidFill>
              <a:srgbClr val="D8D2B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4248" y="1280160"/>
            <a:ext cx="1554480" cy="3111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84248" y="1280160"/>
            <a:ext cx="1554480" cy="731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1463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075688" y="224942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smtClean="0">
                <a:solidFill>
                  <a:srgbClr val="1D3639"/>
                </a:solidFill>
                <a:latin typeface="Times New Roman" pitchFamily="18" charset="0"/>
                <a:cs typeface="Times New Roman" pitchFamily="18" charset="0"/>
              </a:rPr>
              <a:t>AI-based churn prediction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075688" y="2955700"/>
            <a:ext cx="1371600" cy="1339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smtClean="0">
                <a:solidFill>
                  <a:srgbClr val="7F7F7F"/>
                </a:solidFill>
                <a:latin typeface="Times New Roman" pitchFamily="18" charset="0"/>
                <a:cs typeface="Times New Roman" pitchFamily="18" charset="0"/>
              </a:rPr>
              <a:t>AI models analyze customer behaviour, </a:t>
            </a:r>
            <a:r>
              <a:rPr lang="en-US" sz="1400" dirty="0" smtClean="0">
                <a:solidFill>
                  <a:srgbClr val="7F7F7F"/>
                </a:solidFill>
                <a:latin typeface="Times New Roman" pitchFamily="18" charset="0"/>
                <a:cs typeface="Times New Roman" pitchFamily="18" charset="0"/>
              </a:rPr>
              <a:t>       usage </a:t>
            </a:r>
            <a:r>
              <a:rPr lang="en-US" sz="1400" dirty="0" smtClean="0">
                <a:solidFill>
                  <a:srgbClr val="7F7F7F"/>
                </a:solidFill>
                <a:latin typeface="Times New Roman" pitchFamily="18" charset="0"/>
                <a:cs typeface="Times New Roman" pitchFamily="18" charset="0"/>
              </a:rPr>
              <a:t>and signals to predict churn risk early with high </a:t>
            </a:r>
            <a:r>
              <a:rPr lang="en-US" sz="1400" dirty="0" smtClean="0">
                <a:solidFill>
                  <a:srgbClr val="7F7F7F"/>
                </a:solidFill>
                <a:latin typeface="Times New Roman" pitchFamily="18" charset="0"/>
                <a:cs typeface="Times New Roman" pitchFamily="18" charset="0"/>
              </a:rPr>
              <a:t>accuracy</a:t>
            </a:r>
            <a:r>
              <a:rPr lang="en-US" sz="1050" dirty="0" smtClean="0">
                <a:solidFill>
                  <a:srgbClr val="7F7F7F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575304" y="2249424"/>
            <a:ext cx="128016" cy="731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85616" y="1325880"/>
            <a:ext cx="1554480" cy="3065816"/>
          </a:xfrm>
          <a:prstGeom prst="rect">
            <a:avLst/>
          </a:prstGeom>
          <a:solidFill>
            <a:srgbClr val="D8D2BC"/>
          </a:solidFill>
          <a:ln w="12700">
            <a:solidFill>
              <a:srgbClr val="D8D2B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39896" y="1280160"/>
            <a:ext cx="1554480" cy="3111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39896" y="1280160"/>
            <a:ext cx="1554480" cy="731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24528" y="1463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831336" y="23225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smtClean="0">
                <a:solidFill>
                  <a:srgbClr val="1D3639"/>
                </a:solidFill>
                <a:latin typeface="Times New Roman" pitchFamily="18" charset="0"/>
                <a:cs typeface="Times New Roman" pitchFamily="18" charset="0"/>
              </a:rPr>
              <a:t>Centralized customer data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831336" y="2852670"/>
            <a:ext cx="1371600" cy="1539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smtClean="0">
                <a:solidFill>
                  <a:srgbClr val="7F7F7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All customer data from CRM, billing, support and product usage is unfilled in one platform for a 360’ customer view</a:t>
            </a:r>
            <a:r>
              <a:rPr lang="en-US" sz="1050" dirty="0" smtClean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330952" y="2249424"/>
            <a:ext cx="128016" cy="731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41264" y="1325880"/>
            <a:ext cx="1554480" cy="3065816"/>
          </a:xfrm>
          <a:prstGeom prst="rect">
            <a:avLst/>
          </a:prstGeom>
          <a:solidFill>
            <a:srgbClr val="D8D2BC"/>
          </a:solidFill>
          <a:ln w="12700">
            <a:solidFill>
              <a:srgbClr val="D8D2B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95544" y="1280160"/>
            <a:ext cx="1554480" cy="3111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DA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95544" y="1280160"/>
            <a:ext cx="1554480" cy="731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0176" y="14630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586984" y="2010757"/>
            <a:ext cx="1371600" cy="559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smtClean="0">
                <a:solidFill>
                  <a:srgbClr val="1D3639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Automated retention workflows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86984" y="2775396"/>
            <a:ext cx="1371600" cy="1616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smtClean="0">
                <a:solidFill>
                  <a:srgbClr val="7F7F7F"/>
                </a:solidFill>
                <a:latin typeface="Times New Roman" pitchFamily="18" charset="0"/>
                <a:cs typeface="Times New Roman" pitchFamily="18" charset="0"/>
              </a:rPr>
              <a:t>Automated alerts and personalized outreach via email, Slack, and tasks help engage at-risk customers and improve retention at scale.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chemeClr val="bg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Predict · Personalize · Automate · Retain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57316" y="1353312"/>
            <a:ext cx="625506" cy="625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24528" y="1415399"/>
            <a:ext cx="632857" cy="632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 descr="C:\Users\user\Downloads\WhatsApp Image 2026-05-10 at 3.36.58 PM.jpe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53606" y="1415399"/>
            <a:ext cx="500490" cy="5953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6062"/>
            <a:ext cx="8409338" cy="512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E356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Key </a:t>
            </a:r>
            <a:r>
              <a:rPr lang="en-US" sz="2400" b="1" dirty="0" smtClean="0">
                <a:solidFill>
                  <a:srgbClr val="E356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Features &amp; Workflows </a:t>
            </a:r>
            <a:endParaRPr lang="en-US" sz="2400" dirty="0">
              <a:solidFill>
                <a:srgbClr val="E3562B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24327" y="706052"/>
            <a:ext cx="2076073" cy="1075064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24813" y="832103"/>
            <a:ext cx="1275588" cy="57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Churn Risk Score Prediction</a:t>
            </a:r>
            <a:endParaRPr lang="en-US" sz="1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526146" y="1325880"/>
            <a:ext cx="1674254" cy="580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B0C0C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AI models analyze behaviour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330637" y="718786"/>
            <a:ext cx="2134995" cy="1072456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301544" y="832104"/>
            <a:ext cx="1322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AI Risk Explanation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561008" y="1325880"/>
            <a:ext cx="1925392" cy="507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B0C0C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Gen AI explains key factors behind the risk score simple.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5623560" y="718786"/>
            <a:ext cx="2177726" cy="1049596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565392" y="978408"/>
            <a:ext cx="12358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Personalized Retention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5746874" y="1325880"/>
            <a:ext cx="2054411" cy="455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B0C0C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AI suggest next best actions.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1124327" y="1906074"/>
            <a:ext cx="2076073" cy="101099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810126" y="2057877"/>
            <a:ext cx="1390275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Automated alerts &amp; notifications</a:t>
            </a:r>
            <a:endParaRPr lang="en-US" sz="14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1378040" y="2511742"/>
            <a:ext cx="2306606" cy="559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B0C0C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Real time alerts via Email, Slack</a:t>
            </a:r>
            <a:r>
              <a:rPr lang="en-US" sz="1050" dirty="0" smtClean="0">
                <a:solidFill>
                  <a:srgbClr val="B0C0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330637" y="1906074"/>
            <a:ext cx="2134996" cy="1010992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217992" y="2040825"/>
            <a:ext cx="1405568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Dashboards &amp; Reports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3360420" y="2372096"/>
            <a:ext cx="242316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B0C0C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Real time dashboards, APIs reports to monitor and churn retention.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5623560" y="1906074"/>
            <a:ext cx="2177725" cy="1010991"/>
          </a:xfrm>
          <a:prstGeom prst="rect">
            <a:avLst/>
          </a:prstGeom>
          <a:solidFill>
            <a:srgbClr val="1D3639"/>
          </a:solidFill>
          <a:ln w="12700">
            <a:solidFill>
              <a:srgbClr val="1D3639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6537960" y="2075688"/>
            <a:ext cx="140186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Workflow Automation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5746874" y="2511742"/>
            <a:ext cx="2192951" cy="405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B0C0C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Automated tasks, follow-ups assigned with zero manual effort.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44179" y="961946"/>
            <a:ext cx="363934" cy="363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21683" y="2075688"/>
            <a:ext cx="386430" cy="386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491431" y="939450"/>
            <a:ext cx="386430" cy="386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83580" y="939450"/>
            <a:ext cx="347472" cy="347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534619" y="2075688"/>
            <a:ext cx="300054" cy="349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 descr="C:\Users\user\Downloads\WhatsApp Image 2026-05-11 at 11.56.38 AM.jpe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761368" y="2057877"/>
            <a:ext cx="369684" cy="365283"/>
          </a:xfrm>
          <a:prstGeom prst="rect">
            <a:avLst/>
          </a:prstGeom>
          <a:noFill/>
        </p:spPr>
      </p:pic>
      <p:pic>
        <p:nvPicPr>
          <p:cNvPr id="52" name="object 3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630469" y="3377485"/>
            <a:ext cx="3153111" cy="160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73152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 smtClean="0">
                <a:solidFill>
                  <a:srgbClr val="7F7F7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Thank </a:t>
            </a:r>
            <a:r>
              <a:rPr lang="en-US" sz="1400" kern="0" spc="200" dirty="0">
                <a:solidFill>
                  <a:srgbClr val="7F7F7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You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" y="5943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21" name="Shape 19"/>
          <p:cNvSpPr/>
          <p:nvPr/>
        </p:nvSpPr>
        <p:spPr>
          <a:xfrm>
            <a:off x="365760" y="1062507"/>
            <a:ext cx="3200400" cy="457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3807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356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Our Team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760" y="1965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>
                <a:solidFill>
                  <a:srgbClr val="7F7F7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·  ServiceNow Admin &amp; Platform Lead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5760" y="2240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·  Backend Dev &amp; Business Rules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65760" y="25146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</a:t>
            </a:r>
            <a:r>
              <a:rPr lang="en-US" sz="1200" dirty="0" smtClean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 smtClean="0">
                <a:solidFill>
                  <a:srgbClr val="7F7F7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AI </a:t>
            </a:r>
            <a:r>
              <a:rPr lang="en-US" sz="1400" dirty="0">
                <a:solidFill>
                  <a:srgbClr val="7F7F7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Engineer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480560" y="19659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>
                <a:solidFill>
                  <a:srgbClr val="7F7F7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·  Integration Developer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480560" y="22402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</a:t>
            </a: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</a:t>
            </a:r>
            <a:r>
              <a:rPr lang="en-US" sz="1200" dirty="0" smtClean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dirty="0">
                <a:solidFill>
                  <a:srgbClr val="7F7F7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Dashboard &amp; Reporting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480560" y="25146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6</a:t>
            </a:r>
            <a:r>
              <a:rPr lang="en-US" sz="12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200" dirty="0" smtClean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7F7F7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Documentation </a:t>
            </a:r>
            <a:r>
              <a:rPr lang="en-US" sz="1400" dirty="0">
                <a:solidFill>
                  <a:srgbClr val="7F7F7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&amp; QA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65760" y="2926080"/>
            <a:ext cx="8412480" cy="1371600"/>
          </a:xfrm>
          <a:prstGeom prst="rect">
            <a:avLst/>
          </a:prstGeom>
          <a:solidFill>
            <a:srgbClr val="152A2D"/>
          </a:solidFill>
          <a:ln w="12700">
            <a:solidFill>
              <a:srgbClr val="233E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926080"/>
            <a:ext cx="54864" cy="137160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0"/>
            <a:ext cx="411480" cy="41148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051560" y="2971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356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Key Learnings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051560" y="333756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C0C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End-to-end ServiceNow platform architecture — from tables to AI scoring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C0C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Practical ML model deployment using Predictive Intelligence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C0C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GenAI prompt engineering for retention recommendation systems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C0C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Agile 7-day sprint delivery with 6-member cross-functional team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3562B"/>
          </a:solidFill>
          <a:ln w="12700">
            <a:solidFill>
              <a:srgbClr val="E3562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Proactive Churn Prediction &amp; Retention Platform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732</TotalTime>
  <Words>364</Words>
  <Application>Microsoft Office PowerPoint</Application>
  <PresentationFormat>On-screen Show (16:9)</PresentationFormat>
  <Paragraphs>67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Proactive Churn Prediction &amp; Retention Platform</dc:title>
  <dc:subject>PptxGenJS Presentation</dc:subject>
  <dc:creator>PptxGenJS</dc:creator>
  <cp:lastModifiedBy>user</cp:lastModifiedBy>
  <cp:revision>38</cp:revision>
  <dcterms:created xsi:type="dcterms:W3CDTF">2026-05-10T05:11:42Z</dcterms:created>
  <dcterms:modified xsi:type="dcterms:W3CDTF">2026-05-11T09:16:27Z</dcterms:modified>
</cp:coreProperties>
</file>